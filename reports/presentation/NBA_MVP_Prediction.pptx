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Predicting the NBA MVP with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comparison of Naive Bayes and Logistic Regression</a:t>
            </a:r>
          </a:p>
          <a:p/>
          <a:p>
            <a:r>
              <a:t>UE24CS352A — Machine Learning Mini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NBA MVP is voted by sportswriters and broadcasters.</a:t>
            </a:r>
          </a:p>
          <a:p>
            <a:pPr>
              <a:defRPr sz="2000"/>
            </a:pPr>
            <a:r>
              <a:t>Human voters are influenced by popularity, media narratives, and recency bias.</a:t>
            </a:r>
          </a:p>
          <a:p>
            <a:pPr>
              <a:defRPr sz="2000"/>
            </a:pPr>
            <a:r>
              <a:t>Can machine learning predict the MVP using only objective player statistics?</a:t>
            </a:r>
          </a:p>
          <a:p>
            <a:pPr>
              <a:defRPr sz="2000"/>
            </a:pPr>
            <a:r>
              <a:t>We compare a generative model (Naive Bayes) with a discriminative model (Logistic Regression).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Source: Kaggle dataset scraped from Basketball-Reference</a:t>
            </a:r>
          </a:p>
          <a:p>
            <a:pPr>
              <a:defRPr sz="2000"/>
            </a:pPr>
            <a:r>
              <a:t>Timeframe: 2000-01 to 2019-20 (20 seasons)</a:t>
            </a:r>
          </a:p>
          <a:p>
            <a:pPr>
              <a:defRPr sz="2000"/>
            </a:pPr>
            <a:r>
              <a:t>Rows: 60 (top 3 MVP finalists per season)</a:t>
            </a:r>
          </a:p>
          <a:p>
            <a:pPr>
              <a:defRPr sz="2000"/>
            </a:pPr>
            <a:r>
              <a:t>Train: 2000-01 to 2015-16 → 48 rows</a:t>
            </a:r>
          </a:p>
          <a:p>
            <a:pPr>
              <a:defRPr sz="2000"/>
            </a:pPr>
            <a:r>
              <a:t>Test: 2016-17 to 2019-20 → 12 rows</a:t>
            </a:r>
          </a:p>
          <a:p>
            <a:pPr>
              <a:defRPr sz="2000"/>
            </a:pPr>
            <a:r>
              <a:t>Target: MVP = 1 for the winner, 0 for the runners-up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Games played (g)</a:t>
            </a:r>
          </a:p>
          <a:p>
            <a:pPr>
              <a:defRPr sz="2000"/>
            </a:pPr>
            <a:r>
              <a:t>Minutes per game (mp_per_g)</a:t>
            </a:r>
          </a:p>
          <a:p>
            <a:pPr>
              <a:defRPr sz="2000"/>
            </a:pPr>
            <a:r>
              <a:t>Field goal percentage (fg_pct)</a:t>
            </a:r>
          </a:p>
          <a:p>
            <a:pPr>
              <a:defRPr sz="2000"/>
            </a:pPr>
            <a:r>
              <a:t>3-point percentage (fg3_pct)</a:t>
            </a:r>
          </a:p>
          <a:p>
            <a:pPr>
              <a:defRPr sz="2000"/>
            </a:pPr>
            <a:r>
              <a:t>Free throw percentage (ft_pct)</a:t>
            </a:r>
          </a:p>
          <a:p>
            <a:pPr>
              <a:defRPr sz="2000"/>
            </a:pPr>
            <a:r>
              <a:t>Rebounds per game (trb_per_g)</a:t>
            </a:r>
          </a:p>
          <a:p>
            <a:pPr>
              <a:defRPr sz="2000"/>
            </a:pPr>
            <a:r>
              <a:t>Assists per game (ast_per_g)</a:t>
            </a:r>
          </a:p>
          <a:p>
            <a:pPr>
              <a:defRPr sz="2000"/>
            </a:pPr>
            <a:r>
              <a:t>Steals per game (stl_per_g)</a:t>
            </a:r>
          </a:p>
          <a:p>
            <a:pPr>
              <a:defRPr sz="2000"/>
            </a:pPr>
            <a:r>
              <a:t>Blocks per game (blk_per_g)</a:t>
            </a:r>
          </a:p>
          <a:p>
            <a:pPr>
              <a:defRPr sz="2000"/>
            </a:pPr>
            <a:r>
              <a:t>Points per game (pts_per_g)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93192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Naive Bayes</a:t>
            </a:r>
          </a:p>
          <a:p>
            <a:pPr>
              <a:defRPr sz="1800"/>
            </a:pPr>
            <a:r>
              <a:t>Generative probabilistic classifier</a:t>
            </a:r>
          </a:p>
          <a:p>
            <a:pPr>
              <a:defRPr sz="1800"/>
            </a:pPr>
            <a:r>
              <a:t>Assumes features are independent</a:t>
            </a:r>
          </a:p>
          <a:p>
            <a:pPr>
              <a:defRPr sz="1800"/>
            </a:pPr>
            <a:r>
              <a:t>Fast and works well on small data</a:t>
            </a:r>
          </a:p>
          <a:p>
            <a:pPr>
              <a:defRPr sz="1800"/>
            </a:pPr>
            <a:r>
              <a:t>No feature scaling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188720"/>
            <a:ext cx="393192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Logistic Regression</a:t>
            </a:r>
          </a:p>
          <a:p>
            <a:pPr>
              <a:defRPr sz="1800"/>
            </a:pPr>
            <a:r>
              <a:t>Discriminative linear classifier</a:t>
            </a:r>
          </a:p>
          <a:p>
            <a:pPr>
              <a:defRPr sz="1800"/>
            </a:pPr>
            <a:r>
              <a:t>Learns a direct decision boundary</a:t>
            </a:r>
          </a:p>
          <a:p>
            <a:pPr>
              <a:defRPr sz="1800"/>
            </a:pPr>
            <a:r>
              <a:t>Outputs class probabilities</a:t>
            </a:r>
          </a:p>
          <a:p>
            <a:pPr>
              <a:defRPr sz="1800"/>
            </a:pPr>
            <a:r>
              <a:t>Features standardized before training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Evaluation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93192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Pure MVP Prediction</a:t>
            </a:r>
          </a:p>
          <a:p>
            <a:pPr>
              <a:defRPr sz="1800"/>
            </a:pPr>
            <a:r>
              <a:t>Binary classification task</a:t>
            </a:r>
          </a:p>
          <a:p>
            <a:pPr>
              <a:defRPr sz="1800"/>
            </a:pPr>
            <a:r>
              <a:t>Each finalist independently classified as MVP or not</a:t>
            </a:r>
          </a:p>
          <a:p>
            <a:pPr>
              <a:defRPr sz="1800"/>
            </a:pPr>
            <a:r>
              <a:t>Threshold on predicted probability: 0.5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188720"/>
            <a:ext cx="393192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Seasonal MVP Prediction</a:t>
            </a:r>
          </a:p>
          <a:p>
            <a:pPr>
              <a:defRPr sz="1800"/>
            </a:pPr>
            <a:r>
              <a:t>One MVP must be chosen per season</a:t>
            </a:r>
          </a:p>
          <a:p>
            <a:pPr>
              <a:defRPr sz="1800"/>
            </a:pPr>
            <a:r>
              <a:t>Select the finalist with highest probability in that season</a:t>
            </a:r>
          </a:p>
          <a:p>
            <a:pPr>
              <a:defRPr sz="1800"/>
            </a:pPr>
            <a:r>
              <a:t>Closer to real-world voting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Naive Bayes — Train (pure): 60.4%, Test (pure): 41.7%, Test (seasonal): 50.0%</a:t>
            </a:r>
          </a:p>
          <a:p>
            <a:pPr>
              <a:defRPr sz="2000"/>
            </a:pPr>
            <a:r>
              <a:t>Logistic Regression — Train (pure): 79.2%, Test (pure): 50.0%, Test (seasonal): 66.7%</a:t>
            </a:r>
          </a:p>
          <a:p>
            <a:pPr>
              <a:defRPr sz="2000"/>
            </a:pPr>
            <a:r>
              <a:t>Logistic Regression performs best in seasonal mode.</a:t>
            </a:r>
          </a:p>
          <a:p>
            <a:pPr>
              <a:defRPr sz="2000"/>
            </a:pPr>
            <a:r>
              <a:t>Small dataset and high voter subjectivity limit accuracy.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Accuracy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7432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Logistic Regression generalizes better in seasonal mode.</a:t>
            </a:r>
          </a:p>
          <a:p>
            <a:pPr>
              <a:defRPr sz="1600"/>
            </a:pPr>
            <a:r>
              <a:t>Naive Bayes struggles with correlated features.</a:t>
            </a:r>
          </a:p>
          <a:p>
            <a:pPr>
              <a:defRPr sz="1600"/>
            </a:pPr>
            <a:r>
              <a:t>Both models show a train-test gap, indicating limited data.</a:t>
            </a:r>
          </a:p>
        </p:txBody>
      </p:sp>
      <p:pic>
        <p:nvPicPr>
          <p:cNvPr id="5" name="Picture 4" descr="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188720"/>
            <a:ext cx="5029200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Confusion Matrices (Pure Mode)</a:t>
            </a:r>
          </a:p>
        </p:txBody>
      </p:sp>
      <p:pic>
        <p:nvPicPr>
          <p:cNvPr id="4" name="Picture 3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Feature Importance — Logistic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7432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Top positive predictors:</a:t>
            </a:r>
          </a:p>
          <a:p>
            <a:pPr>
              <a:defRPr sz="1600"/>
            </a:pPr>
            <a:r>
              <a:t>• Assists per game</a:t>
            </a:r>
          </a:p>
          <a:p>
            <a:pPr>
              <a:defRPr sz="1600"/>
            </a:pPr>
            <a:r>
              <a:t>• Free throw %</a:t>
            </a:r>
          </a:p>
          <a:p>
            <a:pPr>
              <a:defRPr sz="1600"/>
            </a:pPr>
            <a:r>
              <a:t>• Points per game</a:t>
            </a:r>
          </a:p>
          <a:p>
            <a:pPr>
              <a:defRPr sz="1600"/>
            </a:pPr>
            <a:r>
              <a:t>• Blocks per game</a:t>
            </a:r>
          </a:p>
          <a:p>
            <a:pPr>
              <a:defRPr sz="1600"/>
            </a:pPr>
            <a:r>
              <a:t>• Rebounds per game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Negative:</a:t>
            </a:r>
          </a:p>
          <a:p>
            <a:pPr>
              <a:defRPr sz="1600"/>
            </a:pPr>
            <a:r>
              <a:t>• Minutes per game</a:t>
            </a:r>
          </a:p>
        </p:txBody>
      </p:sp>
      <p:pic>
        <p:nvPicPr>
          <p:cNvPr id="5" name="Picture 4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188720"/>
            <a:ext cx="5029200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Logistic Regression outperforms Naive Bayes, especially for seasonal prediction.</a:t>
            </a:r>
          </a:p>
          <a:p>
            <a:pPr>
              <a:defRPr sz="2000"/>
            </a:pPr>
            <a:r>
              <a:t>Naive Bayes' independence assumption is violated by correlated basketball stats.</a:t>
            </a:r>
          </a:p>
          <a:p>
            <a:pPr>
              <a:defRPr sz="2000"/>
            </a:pPr>
            <a:r>
              <a:t>The dataset is very small (60 rows), leading to overfitting.</a:t>
            </a:r>
          </a:p>
          <a:p>
            <a:pPr>
              <a:defRPr sz="2000"/>
            </a:pPr>
            <a:r>
              <a:t>Models miss non-statistical factors: team wins, media narrative, voter bias.</a:t>
            </a:r>
          </a:p>
          <a:p>
            <a:pPr>
              <a:defRPr sz="2000"/>
            </a:pPr>
            <a:r>
              <a:t>Results are comparable to the reference sample project.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ML can partially predict MVP voting, but human bias remains a major factor.</a:t>
            </a:r>
          </a:p>
          <a:p>
            <a:pPr>
              <a:defRPr sz="2000"/>
            </a:pPr>
            <a:r>
              <a:t>Future improvements:</a:t>
            </a:r>
          </a:p>
          <a:p>
            <a:pPr>
              <a:defRPr sz="2000"/>
            </a:pPr>
            <a:r>
              <a:t>  • Add team-level features (wins, playoff seed, point differential)</a:t>
            </a:r>
          </a:p>
          <a:p>
            <a:pPr>
              <a:defRPr sz="2000"/>
            </a:pPr>
            <a:r>
              <a:t>  • Include advanced metrics (PER, win shares, VORP)</a:t>
            </a:r>
          </a:p>
          <a:p>
            <a:pPr>
              <a:defRPr sz="2000"/>
            </a:pPr>
            <a:r>
              <a:t>  • Expand dataset to more seasons</a:t>
            </a:r>
          </a:p>
          <a:p>
            <a:pPr>
              <a:defRPr sz="2000"/>
            </a:pPr>
            <a:r>
              <a:t>  • Try ensemble models (Random Forest, XGBoost)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